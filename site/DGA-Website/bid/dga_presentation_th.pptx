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7253935" y="0"/>
            <a:ext cx="4937760" cy="6858000"/>
          </a:xfrm>
          <a:prstGeom prst="rtTriangle">
            <a:avLst/>
          </a:prstGeom>
          <a:solidFill>
            <a:srgbClr val="24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62511" y="0"/>
            <a:ext cx="329184" cy="6858000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5836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DIGITAL GOVERNMENT DEVELOPMENT AGENCY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0515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9CAD0"/>
                </a:solidFill>
                <a:latin typeface="Kanit"/>
                <a:ea typeface="Kanit"/>
                <a:cs typeface="Kanit"/>
              </a:rPr>
              <a:t>สำนักงานพัฒนารัฐบาลดิจิทัล (องค์การมหาชน)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6888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ออกแบบและพัฒนา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ระบบเว็บไซต์ </a:t>
            </a:r>
            <a:r>
              <a:rPr sz="46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สพร.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C9CAD0"/>
                </a:solidFill>
                <a:latin typeface="Kanit"/>
                <a:ea typeface="Kanit"/>
                <a:cs typeface="Kanit"/>
              </a:rPr>
              <a:t>(dga.or.th)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C9CAD0"/>
                </a:solidFill>
                <a:latin typeface="Kanit"/>
                <a:ea typeface="Kanit"/>
                <a:cs typeface="Kanit"/>
              </a:rPr>
              <a:t>ข้อเสนอด้านเทคนิค — Headless CMS + Static Site + Multi-Tenant Console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349240"/>
            <a:ext cx="2743200" cy="18288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321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เสนอโดย  บริษัท อวาแลนท์ จำกัด (Avalant)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9788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Everyday AI  •  CMMI Dev/3  •  </a:t>
            </a:r>
            <a:r>
              <a:rPr sz="11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เลขที่อ้างอิง TOR: DGA-69-0177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หัวข้อการนำเสนอ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ทุกหัวข้อออกแบบให้ครอบคลุมเกณฑ์ให้คะแนน TOR ข้อ 6.1 ครบ 100 คะแนน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91440" cy="676656"/>
          </a:xfrm>
          <a:prstGeom prst="rect">
            <a:avLst/>
          </a:prstGeom>
          <a:solidFill>
            <a:srgbClr val="5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2140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5B5F66"/>
                </a:solidFill>
                <a:latin typeface="Ubuntu"/>
                <a:ea typeface="Ubuntu"/>
                <a:cs typeface="Ubuntu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11226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เกี่ยวกับ Avalant &amp; ความเข้าใจโครงการ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4248" y="242316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ประสบการณ์ภาครัฐ • Everyday AI • CMMI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79776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79776"/>
            <a:ext cx="91440" cy="676656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88950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880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Design &amp; UX/UI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4248" y="319125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Design System • 3-Click • WCAG AA • Responsive • Mockup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47872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47872"/>
            <a:ext cx="91440" cy="676656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6576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64845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ฟังก์ชันระบบ CMS 29 โมดูล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4248" y="39593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Hybrid Search • AI Smart Search • Multi-tenant • PDPA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315968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315968"/>
            <a:ext cx="91440" cy="67665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425696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2410C"/>
                </a:solidFill>
                <a:latin typeface="Ubuntu"/>
                <a:ea typeface="Ubuntu"/>
                <a:cs typeface="Ubuntu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44165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สถาปัตยกรรม &amp; ความมั่นคงปลอดภัย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84248" y="47274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Architecture • MFA • DR Site (RTO/RPO) • Performance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084064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084064"/>
            <a:ext cx="91440" cy="676656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19379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E7B34"/>
                </a:solidFill>
                <a:latin typeface="Ubuntu"/>
                <a:ea typeface="Ubuntu"/>
                <a:cs typeface="Ubuntu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518464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แผนงาน 4 งวด • SLA • การสาธิตสด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84248" y="549554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Timeline • Warranty • Live Demo 2 หน้า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852159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852159"/>
            <a:ext cx="91440" cy="676656"/>
          </a:xfrm>
          <a:prstGeom prst="rect">
            <a:avLst/>
          </a:prstGeom>
          <a:solidFill>
            <a:srgbClr val="D63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596188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D63B12"/>
                </a:solidFill>
                <a:latin typeface="Ubuntu"/>
                <a:ea typeface="Ubuntu"/>
                <a:cs typeface="Ubuntu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95274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สรุปการทำคะแนนตามเกณฑ์ 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84248" y="62636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ตารางผูกข้อเสนอ ↔ เกณฑ์ 100 คะแนน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ABOUT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บริษัท อวาแลนท์ จำกัด (Avalant)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ผู้เชี่ยวชาญแพลตฟอร์มดิจิทัลภาครัฐและองค์กรขนาดใหญ่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5603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20+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ปีประสบการณ์ Enterprise Software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965960"/>
            <a:ext cx="25603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212848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CMMI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743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Dev Maturity Level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25603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212848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Everyday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43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AI-First 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965960"/>
            <a:ext cx="25603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212848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100+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743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โครงการภาครัฐ/รัฐวิสาหกิจ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290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จุดแข็งที่ตรงกับโครงการนี้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886200"/>
            <a:ext cx="52120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8408" y="4087368"/>
            <a:ext cx="109728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050791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Headless CMS &amp; Multi-tenant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38912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ออกแบบ CMS ใช้ซ้ำหลายหน่วยงานในแพลตฟอร์มเดียว — ลดต้นทุน ขยายง่าย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886200"/>
            <a:ext cx="52120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73368" y="4087368"/>
            <a:ext cx="109728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050791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Government AI Smart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38912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ผู้ช่วย AI ตอบจากเนื้อหาเว็บจริง รองรับ GEO/AEO ตามแนวทาง 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029200"/>
            <a:ext cx="52120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8408" y="5230368"/>
            <a:ext cx="109728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51937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WCAG &amp; PDPA by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53212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เข้าถึงได้ทุกคน + คุ้มครองข้อมูลส่วนบุคคล ฝังในกระบวนการพัฒนา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5029200"/>
            <a:ext cx="52120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5230368"/>
            <a:ext cx="109728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51937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ส่งมอบจริง สาธิตได้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553212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ต้นแบบทำงานจริง 29 โมดูล พร้อมสาธิตสดในวันนำเสนอ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PROJECT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ความเข้าใจโครงการ &amp; เป้าหมาย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“เว็บไซต์ สพร. คือหน้าตาของรัฐบาลดิจิทัล — ต้องเข้าถึงง่ายสำหรับประชาชนทุกคน ค้นหาได้จริง ปลอดภัยตามกฎหมาย และพร้อมให้ AI อ้างอิง”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06040"/>
            <a:ext cx="52120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606040"/>
            <a:ext cx="91440" cy="1207008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78892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80720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ประชาชนเป็นศูนย์กลาง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3172968"/>
            <a:ext cx="3977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เข้าถึงบริการใน ≤ 3 คลิก • 2 ภาษา • ทุกอุปกรณ์ • WCAG 2.2 AA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06040"/>
            <a:ext cx="52120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606040"/>
            <a:ext cx="91440" cy="1207008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78892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80720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ค้นเจอทุกที่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3172968"/>
            <a:ext cx="3977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Hybrid + Full-text ในไฟล์ + AI Smart Search + Schema (GEO/AEO)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77639"/>
            <a:ext cx="52120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77639"/>
            <a:ext cx="91440" cy="120700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16052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178807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จัดการง่ายหลายฝ่าย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4544568"/>
            <a:ext cx="3977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CMS 29 โมดูล • สิทธิ์ผู้ใช้ • WYSIWYG • Multi-tenant Console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977639"/>
            <a:ext cx="52120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977639"/>
            <a:ext cx="91440" cy="1207008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416052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178807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มั่นคงปลอดภัย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42048" y="4544568"/>
            <a:ext cx="3977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MFA • PDPA • Log • Encryption • DR Site (RTO/RPO)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96935" y="6291072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6935" y="6286500"/>
            <a:ext cx="3291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ข้อ 1–3 • ภาพรวมความต้องการ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ภาพรวมโซลูชัน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Headless CMS + Static Front-end + Multi-Tenant — เร็ว ปลอดภัย ขยายได้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874519"/>
            <a:ext cx="9235440" cy="786384"/>
          </a:xfrm>
          <a:prstGeom prst="roundRect">
            <a:avLst>
              <a:gd name="adj" fmla="val 8000"/>
            </a:avLst>
          </a:prstGeom>
          <a:solidFill>
            <a:srgbClr val="F5F4F0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1874519"/>
            <a:ext cx="109728" cy="786384"/>
          </a:xfrm>
          <a:prstGeom prst="rect">
            <a:avLst/>
          </a:prstGeom>
          <a:solidFill>
            <a:srgbClr val="5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002536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ประชาชน / หน่วยงาน / ธุรกิจ / นักพัฒนา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8" y="233172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ผู้ใช้ 4 กลุ่ม — mega-menu คุม 3-Click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788920"/>
            <a:ext cx="9235440" cy="786384"/>
          </a:xfrm>
          <a:prstGeom prst="roundRect">
            <a:avLst>
              <a:gd name="adj" fmla="val 8000"/>
            </a:avLst>
          </a:prstGeom>
          <a:solidFill>
            <a:srgbClr val="E7EEF8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63040" y="2788920"/>
            <a:ext cx="109728" cy="78638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916936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Static Front-end (HTML/CSS/JS)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" y="324612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หน้าเว็บ render ล่วงหน้า • โหลดไว • Lighthouse สูง • ปลอดภัย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63040" y="3703320"/>
            <a:ext cx="9235440" cy="786384"/>
          </a:xfrm>
          <a:prstGeom prst="roundRect">
            <a:avLst>
              <a:gd name="adj" fmla="val 8000"/>
            </a:avLst>
          </a:prstGeom>
          <a:solidFill>
            <a:srgbClr val="FFF3EC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3703320"/>
            <a:ext cx="109728" cy="78638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3080" y="3831335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Strapi Headless CMS  +  WebX 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1368" y="416052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29 โมดูล • สิทธิ์ผู้ใช้ • WYSIWYG • Multi-tenant + SSO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4617720"/>
            <a:ext cx="9235440" cy="786384"/>
          </a:xfrm>
          <a:prstGeom prst="roundRect">
            <a:avLst>
              <a:gd name="adj" fmla="val 8000"/>
            </a:avLst>
          </a:prstGeom>
          <a:solidFill>
            <a:srgbClr val="FBEFD6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63040" y="4617720"/>
            <a:ext cx="109728" cy="78638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83080" y="4745736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AI Smart Search • Hybrid Full-text • 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01368" y="507492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ตอบจากเนื้อหาเว็บ • ค้นในไฟล์ pdf/docx/xlsx/pptx • GEO/AEO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63040" y="5532120"/>
            <a:ext cx="9235440" cy="786384"/>
          </a:xfrm>
          <a:prstGeom prst="roundRect">
            <a:avLst>
              <a:gd name="adj" fmla="val 8000"/>
            </a:avLst>
          </a:prstGeom>
          <a:solidFill>
            <a:srgbClr val="E5F4E8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63040" y="5532120"/>
            <a:ext cx="109728" cy="786384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5660136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Security &amp; Data: MFA • PDPA • Log • Backup • DR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01368" y="598932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เข้ารหัส • Consent log • สำรอง/กู้คืน RTO/RPO ≤ 1 ชม.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1874519"/>
            <a:ext cx="82296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ผู้ใช้
▼
▼
▼
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62695" y="6291072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62695" y="6286500"/>
            <a:ext cx="2926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ข้อ 4 • สถาปัตยกรรมระบบ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880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Design &amp; UX /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9CAD0"/>
                </a:solidFill>
                <a:latin typeface="Kanit"/>
                <a:ea typeface="Kanit"/>
                <a:cs typeface="Kanit"/>
              </a:rPr>
              <a:t>หัวใจของการตัดสิน — Design System • 3-Click • WCAG • Responsive • Mockup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2468880"/>
            <a:ext cx="2651760" cy="155448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EE5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8415" y="269748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8415" y="36118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CAD0"/>
                </a:solidFill>
                <a:latin typeface="Kanit"/>
                <a:ea typeface="Kanit"/>
                <a:cs typeface="Kanit"/>
              </a:rPr>
              <a:t>น้ำหนักคะแนน TOR 6.1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2.1  DESIGN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ระบบการออกแบบ — ส่งมอบเป็น Figma + CSS Tokens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606040" cy="603504"/>
          </a:xfrm>
          <a:prstGeom prst="roundRect">
            <a:avLst>
              <a:gd name="adj" fmla="val 8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30552"/>
            <a:ext cx="2606040" cy="301752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Typography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2286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Kanit (ไทย) + Ubuntu (อังกฤษ)
สเกล 8 ระดับ • line-height ไทย 1.6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182880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02152" y="1828800"/>
            <a:ext cx="2606040" cy="603504"/>
          </a:xfrm>
          <a:prstGeom prst="roundRect">
            <a:avLst>
              <a:gd name="adj" fmla="val 8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2152" y="2130552"/>
            <a:ext cx="2606040" cy="301752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1874519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26060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Color Palette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017520"/>
            <a:ext cx="2286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Brand/Action/Semantic
ผ่าน Contrast AA ทุกคู่สี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182880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27064" y="1828800"/>
            <a:ext cx="2606040" cy="603504"/>
          </a:xfrm>
          <a:prstGeom prst="roundRect">
            <a:avLst>
              <a:gd name="adj" fmla="val 8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7064" y="2130552"/>
            <a:ext cx="2606040" cy="301752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7064" y="1874519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6060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Iconography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3017520"/>
            <a:ext cx="2286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ชุดไอคอนเส้นสม่ำเสมอ
สื่อความหมายชัด ไม่พึ่งสีเดียว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1976" y="182880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51976" y="1828800"/>
            <a:ext cx="2606040" cy="603504"/>
          </a:xfrm>
          <a:prstGeom prst="roundRect">
            <a:avLst>
              <a:gd name="adj" fmla="val 8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51976" y="2130552"/>
            <a:ext cx="2606040" cy="301752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1976" y="1874519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4856" y="26060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UI Components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3017520"/>
            <a:ext cx="2286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Buttons • Form Inputs • Badge
Cards • Focus ring มาตรฐาน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1605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ส่งมอบ (Deliverables) ตามเกณฑ์ 2.1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572000"/>
            <a:ext cx="2592324" cy="329184"/>
          </a:xfrm>
          <a:prstGeom prst="roundRect">
            <a:avLst>
              <a:gd name="adj" fmla="val 50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567428"/>
            <a:ext cx="25923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410C"/>
                </a:solidFill>
                <a:latin typeface="Kanit"/>
                <a:ea typeface="Kanit"/>
                <a:cs typeface="Kanit"/>
              </a:rPr>
              <a:t>Figma Component Library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34156" y="4572000"/>
            <a:ext cx="2208276" cy="329184"/>
          </a:xfrm>
          <a:prstGeom prst="roundRect">
            <a:avLst>
              <a:gd name="adj" fmla="val 50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34156" y="4567428"/>
            <a:ext cx="22082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410C"/>
                </a:solidFill>
                <a:latin typeface="Kanit"/>
                <a:ea typeface="Kanit"/>
                <a:cs typeface="Kanit"/>
              </a:rPr>
              <a:t>Design Tokens (CSS)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07024" y="4572000"/>
            <a:ext cx="2016252" cy="329184"/>
          </a:xfrm>
          <a:prstGeom prst="roundRect">
            <a:avLst>
              <a:gd name="adj" fmla="val 50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07024" y="4567428"/>
            <a:ext cx="20162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410C"/>
                </a:solidFill>
                <a:latin typeface="Kanit"/>
                <a:ea typeface="Kanit"/>
                <a:cs typeface="Kanit"/>
              </a:rPr>
              <a:t>Light / Dark Mode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87868" y="4572000"/>
            <a:ext cx="2112264" cy="329184"/>
          </a:xfrm>
          <a:prstGeom prst="roundRect">
            <a:avLst>
              <a:gd name="adj" fmla="val 50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87868" y="4567428"/>
            <a:ext cx="21122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410C"/>
                </a:solidFill>
                <a:latin typeface="Kanit"/>
                <a:ea typeface="Kanit"/>
                <a:cs typeface="Kanit"/>
              </a:rPr>
              <a:t>Accessibility Spec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64724" y="4572000"/>
            <a:ext cx="1728216" cy="329184"/>
          </a:xfrm>
          <a:prstGeom prst="roundRect">
            <a:avLst>
              <a:gd name="adj" fmla="val 50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64724" y="4567428"/>
            <a:ext cx="172821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410C"/>
                </a:solidFill>
                <a:latin typeface="Kanit"/>
                <a:ea typeface="Kanit"/>
                <a:cs typeface="Kanit"/>
              </a:rPr>
              <a:t>Component Docs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2120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B5F66"/>
                </a:solidFill>
                <a:latin typeface="Kanit"/>
                <a:ea typeface="Kanit"/>
                <a:cs typeface="Kanit"/>
              </a:rPr>
              <a:t>ไฟล์จริงในโครงการ: </a:t>
            </a:r>
            <a:r>
              <a:rPr sz="1150" b="0">
                <a:solidFill>
                  <a:srgbClr val="C2410C"/>
                </a:solidFill>
                <a:latin typeface="Ubuntu"/>
                <a:ea typeface="Ubuntu"/>
                <a:cs typeface="Ubuntu"/>
              </a:rPr>
              <a:t>assets/design-system.css</a:t>
            </a:r>
            <a:r>
              <a:rPr sz="11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  — Design Tokens ครบ (สี/ฟอนต์/ระยะ/รัศมี/เงา) ใช้ซ้ำทุกหน้า ลด CLS/LCP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91095" y="6291072"/>
            <a:ext cx="4297680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91095" y="6286500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6.1 (2.1) • Design System + Typography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2.1  TYPOGRAPHY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ระบบตัวอักษร — Kanit / Ubuntu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64008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Display / 47.8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1168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บริการรัฐบาลดิจิทัล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624328"/>
            <a:ext cx="5989320" cy="10972"/>
          </a:xfrm>
          <a:prstGeom prst="rect">
            <a:avLst/>
          </a:prstGeom>
          <a:solidFill>
            <a:srgbClr val="EC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H1 / 39.8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65176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หัวเรื่องหลักของหน้า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264408"/>
            <a:ext cx="5989320" cy="10972"/>
          </a:xfrm>
          <a:prstGeom prst="rect">
            <a:avLst/>
          </a:prstGeom>
          <a:solidFill>
            <a:srgbClr val="EC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3756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H2 / 27.6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29184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หัวข้อรอง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904488"/>
            <a:ext cx="5989320" cy="10972"/>
          </a:xfrm>
          <a:prstGeom prst="rect">
            <a:avLst/>
          </a:prstGeom>
          <a:solidFill>
            <a:srgbClr val="EC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7764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Body LG /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93192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เนื้อหานำ อ่านสบายตา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4544568"/>
            <a:ext cx="5989320" cy="10972"/>
          </a:xfrm>
          <a:prstGeom prst="rect">
            <a:avLst/>
          </a:prstGeom>
          <a:solidFill>
            <a:srgbClr val="EC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61772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Body /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57200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เนื้อหาปกติ บรรทัดฐาน 1.6 สำหรับภาษาไทย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184648"/>
            <a:ext cx="5989320" cy="10972"/>
          </a:xfrm>
          <a:prstGeom prst="rect">
            <a:avLst/>
          </a:prstGeom>
          <a:solidFill>
            <a:srgbClr val="EC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25780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Small / 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21208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คำอธิบายประกอบ / caption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824728"/>
            <a:ext cx="5989320" cy="10972"/>
          </a:xfrm>
          <a:prstGeom prst="rect">
            <a:avLst/>
          </a:prstGeom>
          <a:solidFill>
            <a:srgbClr val="EC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1828800"/>
            <a:ext cx="3977639" cy="416052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2057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หลักการ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5146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18704" y="251460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ไทยใช้ Kanit — เปิด weight เท่าที่ใช้ (300–700) ลดน้ำหนักโหลด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17296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18704" y="3172968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อังกฤษ/ตัวเลข/โค้ด ใช้ Ubuntu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831335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8704" y="3831335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line-height 1.6 รองรับสระบน-ล่างภาษาไทย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48970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18704" y="4489703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Modular scale อัตราส่วน 1.2 — ลำดับชั้นชัด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514807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8704" y="5148071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ควร self-host + preload เพื่อ Lighthouse (4.1.6)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54135" y="6291072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54135" y="6286500"/>
            <a:ext cx="2834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6.1 (2.1) • Typography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2.1 / 2.3  COLOR &amp;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จานสี — ผ่าน WCAG Contrast AA ทุกคู่ที่ใช้งาน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877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Aa  ก่อสร้าง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815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Brand  </a:t>
            </a:r>
            <a:r>
              <a:rPr sz="10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#EE5020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33756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5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32988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E7B34"/>
                </a:solidFill>
                <a:latin typeface="Kanit"/>
                <a:ea typeface="Kanit"/>
                <a:cs typeface="Kanit"/>
              </a:rPr>
              <a:t>3.6:1*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874519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25877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Aa  ก่อสร้าง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30815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Action  </a:t>
            </a:r>
            <a:r>
              <a:rPr sz="10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#C2410C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333756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5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3332988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E7B34"/>
                </a:solidFill>
                <a:latin typeface="Kanit"/>
                <a:ea typeface="Kanit"/>
                <a:cs typeface="Kanit"/>
              </a:rPr>
              <a:t>4.9:1 AA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1874519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25877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Aa  ก่อสร้าง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30815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Navy/Focus  </a:t>
            </a:r>
            <a:r>
              <a:rPr sz="10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#13497A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333756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5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7064" y="3332988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E7B34"/>
                </a:solidFill>
                <a:latin typeface="Kanit"/>
                <a:ea typeface="Kanit"/>
                <a:cs typeface="Kanit"/>
              </a:rPr>
              <a:t>8.6:1 AAA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1976" y="1874519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5" y="25877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Aa  ก่อสร้าง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1976" y="30815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Success  </a:t>
            </a:r>
            <a:r>
              <a:rPr sz="10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#1E7B34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1976" y="333756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5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1976" y="3332988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E7B34"/>
                </a:solidFill>
                <a:latin typeface="Kanit"/>
                <a:ea typeface="Kanit"/>
                <a:cs typeface="Kanit"/>
              </a:rPr>
              <a:t>4.8:1 AA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79476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5079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Aa  ก่อสร้าง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00176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Warning  </a:t>
            </a:r>
            <a:r>
              <a:rPr sz="10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#8A5A00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2578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5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253228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E7B34"/>
                </a:solidFill>
                <a:latin typeface="Kanit"/>
                <a:ea typeface="Kanit"/>
                <a:cs typeface="Kanit"/>
              </a:rPr>
              <a:t>5.6:1 AA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02152" y="379476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85032" y="45079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Aa  ก่อสร้าง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02152" y="500176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Danger  </a:t>
            </a:r>
            <a:r>
              <a:rPr sz="10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#B3261E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02152" y="52578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5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02152" y="5253228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E7B34"/>
                </a:solidFill>
                <a:latin typeface="Kanit"/>
                <a:ea typeface="Kanit"/>
                <a:cs typeface="Kanit"/>
              </a:rPr>
              <a:t>6.0:1 AA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7064" y="379476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9944" y="45079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Aa  ก่อสร้าง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27064" y="500176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Ink  </a:t>
            </a:r>
            <a:r>
              <a:rPr sz="10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#18181B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27064" y="52578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5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7064" y="5253228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E7B34"/>
                </a:solidFill>
                <a:latin typeface="Kanit"/>
                <a:ea typeface="Kanit"/>
                <a:cs typeface="Kanit"/>
              </a:rPr>
              <a:t>15:1 AAA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51976" y="379476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5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34855" y="45079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Aa  ก่อสร้าง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51976" y="500176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Muted  </a:t>
            </a:r>
            <a:r>
              <a:rPr sz="10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#5B5F66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51976" y="52578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5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51976" y="5253228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E7B34"/>
                </a:solidFill>
                <a:latin typeface="Kanit"/>
                <a:ea typeface="Kanit"/>
                <a:cs typeface="Kanit"/>
              </a:rPr>
              <a:t>7:1 AAA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ข้อความปกติ ≥ 4.5:1 • ข้อความใหญ่/UI ≥ 3:1   </a:t>
            </a:r>
            <a:r>
              <a:rPr sz="1050" b="0">
                <a:solidFill>
                  <a:srgbClr val="8A5A00"/>
                </a:solidFill>
                <a:latin typeface="Kanit"/>
                <a:ea typeface="Kanit"/>
                <a:cs typeface="Kanit"/>
              </a:rPr>
              <a:t>*Brand ใช้เป็นพื้นหลัง/องค์ประกอบใหญ่เท่านั้น ข้อความใช้ Action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82535" y="6291072"/>
            <a:ext cx="4206240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82535" y="6286500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6.1 (2.1 + 2.3) • Color &amp; Contrast AA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2.1  UI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องค์ประกอบ UI มาตรฐาน — Buttons • Inputs • Badge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2120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Buttons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77440"/>
            <a:ext cx="1554480" cy="457200"/>
          </a:xfrm>
          <a:prstGeom prst="roundRect">
            <a:avLst>
              <a:gd name="adj" fmla="val 18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68296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Primary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2377440"/>
            <a:ext cx="15544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651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2368296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2410C"/>
                </a:solidFill>
                <a:latin typeface="Kanit"/>
                <a:ea typeface="Kanit"/>
                <a:cs typeface="Kanit"/>
              </a:rPr>
              <a:t>Secondary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377440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F5F4F0"/>
          </a:solidFill>
          <a:ln w="12700">
            <a:solidFill>
              <a:srgbClr val="DCD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368296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5B5F66"/>
                </a:solidFill>
                <a:latin typeface="Kanit"/>
                <a:ea typeface="Kanit"/>
                <a:cs typeface="Kanit"/>
              </a:rPr>
              <a:t>Ghost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6324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ปุ่มสูง ≥ 44px • โฟกัสมีวงน้ำเงิน • พื้นที่กด ≥ 24px (2.5.8)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28800"/>
            <a:ext cx="52120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Form 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317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อีเมล 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578608"/>
            <a:ext cx="4754880" cy="4206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CD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569464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name@example.com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127248"/>
            <a:ext cx="4754880" cy="4206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651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58444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B3261E"/>
                </a:solidFill>
                <a:latin typeface="Kanit"/>
                <a:ea typeface="Kanit"/>
                <a:cs typeface="Kanit"/>
              </a:rPr>
              <a:t>! กรุณากรอกอีเมลให้ถูกต้อง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931920"/>
            <a:ext cx="106070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069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Badges / Status &amp; States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4480560"/>
            <a:ext cx="1056132" cy="329184"/>
          </a:xfrm>
          <a:prstGeom prst="roundRect">
            <a:avLst>
              <a:gd name="adj" fmla="val 50000"/>
            </a:avLst>
          </a:prstGeom>
          <a:solidFill>
            <a:srgbClr val="E5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475988"/>
            <a:ext cx="10561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7B34"/>
                </a:solidFill>
                <a:latin typeface="Kanit"/>
                <a:ea typeface="Kanit"/>
                <a:cs typeface="Kanit"/>
              </a:rPr>
              <a:t>เผยแพร่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44852" y="4480560"/>
            <a:ext cx="1152144" cy="329184"/>
          </a:xfrm>
          <a:prstGeom prst="roundRect">
            <a:avLst>
              <a:gd name="adj" fmla="val 50000"/>
            </a:avLst>
          </a:prstGeom>
          <a:solidFill>
            <a:srgbClr val="EE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4852" y="4475988"/>
            <a:ext cx="1152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F4148"/>
                </a:solidFill>
                <a:latin typeface="Kanit"/>
                <a:ea typeface="Kanit"/>
                <a:cs typeface="Kanit"/>
              </a:rPr>
              <a:t>ฉบับร่าง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79876" y="448056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79876" y="4475988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A5A00"/>
                </a:solidFill>
                <a:latin typeface="Kanit"/>
                <a:ea typeface="Kanit"/>
                <a:cs typeface="Kanit"/>
              </a:rPr>
              <a:t>รอตรวจ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22876" y="4480560"/>
            <a:ext cx="1440180" cy="329184"/>
          </a:xfrm>
          <a:prstGeom prst="roundRect">
            <a:avLst>
              <a:gd name="adj" fmla="val 50000"/>
            </a:avLst>
          </a:prstGeom>
          <a:solidFill>
            <a:srgbClr val="FB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22876" y="4475988"/>
            <a:ext cx="14401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3261E"/>
                </a:solidFill>
                <a:latin typeface="Kanit"/>
                <a:ea typeface="Kanit"/>
                <a:cs typeface="Kanit"/>
              </a:rPr>
              <a:t>ปิดปรับปรุง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45936" y="448056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7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45936" y="4475988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ข้อมูล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0292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ทุก component กำหนดสถานะครบ: </a:t>
            </a:r>
            <a:r>
              <a:rPr sz="1100" b="0">
                <a:solidFill>
                  <a:srgbClr val="C2410C"/>
                </a:solidFill>
                <a:latin typeface="Ubuntu"/>
                <a:ea typeface="Ubuntu"/>
                <a:cs typeface="Ubuntu"/>
              </a:rPr>
              <a:t>default / hover / focus / active / disabled / error</a:t>
            </a: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 — รับประกันความสม่ำเสมอและเข้าถึงได้ด้วยคีย์บอร์ด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79815" y="6291072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79815" y="6286500"/>
            <a:ext cx="3108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6.1 (2.1) • UI Components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2.2  INFORMATION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Sitemap — เข้าถึงทุกบริการใน ≤ 3 คลิก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783080"/>
            <a:ext cx="2286000" cy="502920"/>
          </a:xfrm>
          <a:prstGeom prst="roundRect">
            <a:avLst>
              <a:gd name="adj" fmla="val 2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773936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หน้าแรก (Home)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3080" y="2286000"/>
            <a:ext cx="18288" cy="502920"/>
          </a:xfrm>
          <a:prstGeom prst="rect">
            <a:avLst/>
          </a:prstGeom>
          <a:solidFill>
            <a:srgbClr val="DCD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788920"/>
            <a:ext cx="2377440" cy="548640"/>
          </a:xfrm>
          <a:prstGeom prst="roundRect">
            <a:avLst>
              <a:gd name="adj" fmla="val 16000"/>
            </a:avLst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79776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บริการ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52044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57600"/>
            <a:ext cx="2057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ค้นหา • e-Service
รายการบริการ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57200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คลิกที่ 2–3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286000"/>
            <a:ext cx="18288" cy="502920"/>
          </a:xfrm>
          <a:prstGeom prst="rect">
            <a:avLst/>
          </a:prstGeom>
          <a:solidFill>
            <a:srgbClr val="DCD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66160" y="2788920"/>
            <a:ext cx="2377440" cy="548640"/>
          </a:xfrm>
          <a:prstGeom prst="roundRect">
            <a:avLst>
              <a:gd name="adj" fmla="val 16000"/>
            </a:avLst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779776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ข่าวสาร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352044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3657600"/>
            <a:ext cx="2057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ข่าว • ประกาศ
กิจกรรม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457200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คลิกที่ 2–3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2286000"/>
            <a:ext cx="18288" cy="502920"/>
          </a:xfrm>
          <a:prstGeom prst="rect">
            <a:avLst/>
          </a:prstGeom>
          <a:solidFill>
            <a:srgbClr val="DCD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2788920"/>
            <a:ext cx="2377440" cy="548640"/>
          </a:xfrm>
          <a:prstGeom prst="roundRect">
            <a:avLst>
              <a:gd name="adj" fmla="val 16000"/>
            </a:avLst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779776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บริการออนไลน์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52044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657600"/>
            <a:ext cx="2057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ฟอร์ม • ร้องเรียน
ลงทะเบียน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57200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คลิกที่ 2–3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2286000"/>
            <a:ext cx="18288" cy="502920"/>
          </a:xfrm>
          <a:prstGeom prst="rect">
            <a:avLst/>
          </a:prstGeom>
          <a:solidFill>
            <a:srgbClr val="DCD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61120" y="2788920"/>
            <a:ext cx="2377440" cy="548640"/>
          </a:xfrm>
          <a:prstGeom prst="roundRect">
            <a:avLst>
              <a:gd name="adj" fmla="val 16000"/>
            </a:avLst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2779776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เกี่ยวกับ สพร.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352044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3657600"/>
            <a:ext cx="2057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ข้อมูล • ติดต่อ
ดาวน์โหลด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57200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คลิกที่ 2–3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83080" y="2286000"/>
            <a:ext cx="8229600" cy="18288"/>
          </a:xfrm>
          <a:prstGeom prst="rect">
            <a:avLst/>
          </a:prstGeom>
          <a:solidFill>
            <a:srgbClr val="DCD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" y="5166360"/>
            <a:ext cx="10607040" cy="822960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285232"/>
            <a:ext cx="1014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2410C"/>
                </a:solidFill>
                <a:latin typeface="Kanit"/>
                <a:ea typeface="Kanit"/>
                <a:cs typeface="Kanit"/>
              </a:rPr>
              <a:t>mega-menu จัดกลุ่มตามผู้ใช้ 4 กลุ่ม</a:t>
            </a:r>
            <a:r>
              <a:rPr sz="12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 (ประชาชน / หน่วยงานรัฐ / ธุรกิจ / นักพัฒนา) + ค้นหา + breadcrumb — </a:t>
            </a:r>
            <a:r>
              <a:rPr sz="125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รับประกันกฎ 3 คลิก พร้อม Sitemap.xml + User Flow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31175" y="6291072"/>
            <a:ext cx="3657600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31175" y="6286500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6.1 (2.2) • ≤3 Clicks + Sitemap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2.2  USER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ตัวอย่าง User Flow — “ประชาชนค้นหาและใช้บริการ”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19659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34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1965960" cy="365760"/>
          </a:xfrm>
          <a:prstGeom prst="roundRect">
            <a:avLst>
              <a:gd name="adj" fmla="val 8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77440"/>
            <a:ext cx="1965960" cy="182880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ขั้นที่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33472"/>
            <a:ext cx="1746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เข้าหน้าแรก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71800"/>
            <a:ext cx="1746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พิมพ์คำค้น/เลือกเมนู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2514600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E5020"/>
                </a:solidFill>
                <a:latin typeface="Kanit"/>
                <a:ea typeface="Kanit"/>
                <a:cs typeface="Kanit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194560"/>
            <a:ext cx="19659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EE5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17520" y="2194560"/>
            <a:ext cx="1965960" cy="365760"/>
          </a:xfrm>
          <a:prstGeom prst="roundRect">
            <a:avLst>
              <a:gd name="adj" fmla="val 8000"/>
            </a:avLst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0" y="2377440"/>
            <a:ext cx="1965960" cy="182880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212848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ขั้นที่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2633472"/>
            <a:ext cx="1746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Hybrid / AI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2971800"/>
            <a:ext cx="1746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ผลลัพธ์ + คำตอบ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5192" y="2514600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E5020"/>
                </a:solidFill>
                <a:latin typeface="Kanit"/>
                <a:ea typeface="Kanit"/>
                <a:cs typeface="Kanit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2194560"/>
            <a:ext cx="19659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57800" y="2194560"/>
            <a:ext cx="1965960" cy="365760"/>
          </a:xfrm>
          <a:prstGeom prst="roundRect">
            <a:avLst>
              <a:gd name="adj" fmla="val 8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57800" y="2377440"/>
            <a:ext cx="1965960" cy="1828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2212848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ขั้นที่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2633472"/>
            <a:ext cx="1746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หน้าบริการ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7528" y="2971800"/>
            <a:ext cx="1746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Answer Block + ขั้นตอน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5472" y="2514600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E5020"/>
                </a:solidFill>
                <a:latin typeface="Kanit"/>
                <a:ea typeface="Kanit"/>
                <a:cs typeface="Kanit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0" y="2194560"/>
            <a:ext cx="19659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98080" y="2194560"/>
            <a:ext cx="1965960" cy="365760"/>
          </a:xfrm>
          <a:prstGeom prst="roundRect">
            <a:avLst>
              <a:gd name="adj" fmla="val 8000"/>
            </a:avLst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80" y="2377440"/>
            <a:ext cx="1965960" cy="182880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0" y="2212848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ขั้นที่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8" y="2633472"/>
            <a:ext cx="1746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ทำรายการ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7808" y="2971800"/>
            <a:ext cx="1746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ฟอร์ม + แนบไฟล์ + CAPTCHA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5752" y="2514600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E5020"/>
                </a:solidFill>
                <a:latin typeface="Kanit"/>
                <a:ea typeface="Kanit"/>
                <a:cs typeface="Kanit"/>
              </a:rPr>
              <a:t>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38360" y="2194560"/>
            <a:ext cx="19659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34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738360" y="2194560"/>
            <a:ext cx="1965960" cy="365760"/>
          </a:xfrm>
          <a:prstGeom prst="roundRect">
            <a:avLst>
              <a:gd name="adj" fmla="val 8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38360" y="2377440"/>
            <a:ext cx="1965960" cy="182880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38360" y="2212848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ขั้นที่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48088" y="2633472"/>
            <a:ext cx="1746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ยืนยัน/ติดตาม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48088" y="2971800"/>
            <a:ext cx="1746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อีเมลอัตโนมัติ + เลขอ้างอิง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3840480"/>
            <a:ext cx="10607040" cy="201168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397763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จุดตัดสินใจ &amp; เส้นทางลัด (≤ 3 คลิก ทุกเส้นทาง)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43434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43434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ผู้ใช้รู้ชื่อบริการ → ค้นหา → บริการ (2 คลิก)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47091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470916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ผู้ใช้ไม่แน่ใจ → ถาม AI Smart Search → ลิงก์บริการ (2 คลิก)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50749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3040" y="50749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เรียกดูตามหมวด → เมนู → หมวด → บริการ (3 คลิก)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54406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63040" y="544068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ลัด: Quick Links / Top Graphic / Popup โปรโมตบริการเด่น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45575" y="6291072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45575" y="628650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6.1 (2.2) • User Flow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2.3  ACCESSIBILITY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WCAG 2.1 / 2.2 ระดับ AA — เข้าถึงได้ทุกคน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65836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91440" cy="621792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01952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E7B34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83664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Perceivable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74519"/>
            <a:ext cx="4069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Contrast AA • alt ครบ • ไม่พึ่งสีเดียว • caption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42032"/>
            <a:ext cx="65836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542032"/>
            <a:ext cx="91440" cy="621792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615184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E7B34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596896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Operable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587752"/>
            <a:ext cx="4069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คีย์บอร์ดทั้งหมด • โฟกัสเห็นชัด (2.4.11) • target ≥24px (2.5.8)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55264"/>
            <a:ext cx="65836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255264"/>
            <a:ext cx="91440" cy="621792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328416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E7B34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310128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Understandable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300984"/>
            <a:ext cx="4069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lang=th/en • label+error+aria-describedby • ภาษาเรียบง่าย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68496"/>
            <a:ext cx="65836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68496"/>
            <a:ext cx="91440" cy="621792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041648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E7B34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023359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Robust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014215"/>
            <a:ext cx="4069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HTML semantic • ARIA landmark • อ่านด้วย Screen Reader ได้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1828800"/>
            <a:ext cx="3794760" cy="2834640"/>
          </a:xfrm>
          <a:prstGeom prst="roundRect">
            <a:avLst>
              <a:gd name="adj" fmla="val 6000"/>
            </a:avLst>
          </a:prstGeom>
          <a:solidFill>
            <a:srgbClr val="13497A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20116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เครื่องมือทดสอบ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4688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EE5020"/>
                </a:solidFill>
                <a:latin typeface="Kanit"/>
                <a:ea typeface="Kanit"/>
                <a:cs typeface="Kanit"/>
              </a:rPr>
              <a:t>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24688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Ubuntu"/>
                <a:ea typeface="Ubuntu"/>
                <a:cs typeface="Ubuntu"/>
              </a:rPr>
              <a:t>axe DevTools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8254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EE5020"/>
                </a:solidFill>
                <a:latin typeface="Kanit"/>
                <a:ea typeface="Kanit"/>
                <a:cs typeface="Kanit"/>
              </a:rPr>
              <a:t>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282549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Ubuntu"/>
                <a:ea typeface="Ubuntu"/>
                <a:cs typeface="Ubuntu"/>
              </a:rPr>
              <a:t>Lighthouse Accessibility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18211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EE5020"/>
                </a:solidFill>
                <a:latin typeface="Kanit"/>
                <a:ea typeface="Kanit"/>
                <a:cs typeface="Kanit"/>
              </a:rPr>
              <a:t>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318211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Ubuntu"/>
                <a:ea typeface="Ubuntu"/>
                <a:cs typeface="Ubuntu"/>
              </a:rPr>
              <a:t>WAVE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35387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EE5020"/>
                </a:solidFill>
                <a:latin typeface="Kanit"/>
                <a:ea typeface="Kanit"/>
                <a:cs typeface="Kanit"/>
              </a:rPr>
              <a:t>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35387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Ubuntu"/>
                <a:ea typeface="Ubuntu"/>
                <a:cs typeface="Ubuntu"/>
              </a:rPr>
              <a:t>NVDA / VoiceOver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89534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EE5020"/>
                </a:solidFill>
                <a:latin typeface="Kanit"/>
                <a:ea typeface="Kanit"/>
                <a:cs typeface="Kanit"/>
              </a:rPr>
              <a:t>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389534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Ubuntu"/>
                <a:ea typeface="Ubuntu"/>
                <a:cs typeface="Ubuntu"/>
              </a:rPr>
              <a:t>Keyboard-only 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2519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EE5020"/>
                </a:solidFill>
                <a:latin typeface="Kanit"/>
                <a:ea typeface="Kanit"/>
                <a:cs typeface="Kanit"/>
              </a:rPr>
              <a:t>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42519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Ubuntu"/>
                <a:ea typeface="Ubuntu"/>
                <a:cs typeface="Ubuntu"/>
              </a:rPr>
              <a:t>Contrast Checker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4800600"/>
            <a:ext cx="10607040" cy="1188720"/>
          </a:xfrm>
          <a:prstGeom prst="roundRect">
            <a:avLst>
              <a:gd name="adj" fmla="val 6000"/>
            </a:avLst>
          </a:prstGeom>
          <a:solidFill>
            <a:srgbClr val="E5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4937760"/>
            <a:ext cx="10149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7B34"/>
                </a:solidFill>
                <a:latin typeface="Kanit"/>
                <a:ea typeface="Kanit"/>
                <a:cs typeface="Kanit"/>
              </a:rPr>
              <a:t>แถบเครื่องมือเข้าถึง</a:t>
            </a:r>
            <a:r>
              <a:rPr sz="12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 บนทุกหน้า: ปรับขนาดอักษร (ก- ก ก+) • โหมดความต่างสูง • ข้ามไปเนื้อหา • โหมดมืด — </a:t>
            </a:r>
            <a:r>
              <a:rPr sz="120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ทดสอบจริงทุก sprint และแนบรายงานผลในงวดส่งมอบ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62695" y="6291072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62695" y="6286500"/>
            <a:ext cx="2926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6.1 (2.3) • WCAG 2.2 AA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2.4  RESPONSIVE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รองรับ 3 อุปกรณ์ — Desktop / Tablet / Mobile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576072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CD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5760720" cy="310896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2029968"/>
            <a:ext cx="91440" cy="91440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8136" y="2029968"/>
            <a:ext cx="91440" cy="9144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52728" y="2029968"/>
            <a:ext cx="91440" cy="91440"/>
          </a:xfrm>
          <a:prstGeom prst="ellipse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54480" y="1984248"/>
            <a:ext cx="438912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1975104"/>
            <a:ext cx="4297679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◆ www.dga.or.th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31136"/>
            <a:ext cx="5760720" cy="256032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2313432"/>
            <a:ext cx="45720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542032"/>
            <a:ext cx="5760720" cy="953902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42032"/>
            <a:ext cx="5760720" cy="9539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Hero + ค้นหา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569086"/>
            <a:ext cx="1339595" cy="834664"/>
          </a:xfrm>
          <a:prstGeom prst="roundRect">
            <a:avLst>
              <a:gd name="adj" fmla="val 10000"/>
            </a:avLst>
          </a:prstGeom>
          <a:solidFill>
            <a:srgbClr val="FFF3EC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81428" y="3569086"/>
            <a:ext cx="1339595" cy="834664"/>
          </a:xfrm>
          <a:prstGeom prst="roundRect">
            <a:avLst>
              <a:gd name="adj" fmla="val 10000"/>
            </a:avLst>
          </a:prstGeom>
          <a:solidFill>
            <a:srgbClr val="FFF3EC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94176" y="3569086"/>
            <a:ext cx="1339595" cy="834664"/>
          </a:xfrm>
          <a:prstGeom prst="roundRect">
            <a:avLst>
              <a:gd name="adj" fmla="val 10000"/>
            </a:avLst>
          </a:prstGeom>
          <a:solidFill>
            <a:srgbClr val="FFF3EC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06924" y="3569086"/>
            <a:ext cx="1339595" cy="834664"/>
          </a:xfrm>
          <a:prstGeom prst="roundRect">
            <a:avLst>
              <a:gd name="adj" fmla="val 10000"/>
            </a:avLst>
          </a:prstGeom>
          <a:solidFill>
            <a:srgbClr val="FFF3EC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85232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Desktop ≥ 1280px — เมนูเต็ม + กริด 3–4 คอลัมน์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1920240"/>
            <a:ext cx="22860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CD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49440" y="1920240"/>
            <a:ext cx="2286000" cy="310896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95744" y="2029968"/>
            <a:ext cx="91440" cy="91440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60336" y="2029968"/>
            <a:ext cx="91440" cy="9144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24927" y="2029968"/>
            <a:ext cx="91440" cy="91440"/>
          </a:xfrm>
          <a:prstGeom prst="ellipse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26679" y="1984248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975104"/>
            <a:ext cx="822959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◆ www.dga.or.th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2231136"/>
            <a:ext cx="2286000" cy="256032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79" y="2313432"/>
            <a:ext cx="45720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49440" y="2542032"/>
            <a:ext cx="2286000" cy="953902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2542032"/>
            <a:ext cx="2286000" cy="9539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Hero + ค้นหา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79" y="3569086"/>
            <a:ext cx="1014983" cy="834664"/>
          </a:xfrm>
          <a:prstGeom prst="roundRect">
            <a:avLst>
              <a:gd name="adj" fmla="val 10000"/>
            </a:avLst>
          </a:prstGeom>
          <a:solidFill>
            <a:srgbClr val="FFF3EC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29015" y="3569086"/>
            <a:ext cx="1014983" cy="834664"/>
          </a:xfrm>
          <a:prstGeom prst="roundRect">
            <a:avLst>
              <a:gd name="adj" fmla="val 10000"/>
            </a:avLst>
          </a:prstGeom>
          <a:solidFill>
            <a:srgbClr val="FFF3EC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528523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Tablet ~768px — 2 คอลัมน์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1920240"/>
            <a:ext cx="192024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CD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464040" y="1920240"/>
            <a:ext cx="1920240" cy="310896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610344" y="2029968"/>
            <a:ext cx="91440" cy="91440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74936" y="2029968"/>
            <a:ext cx="91440" cy="9144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39528" y="2029968"/>
            <a:ext cx="91440" cy="91440"/>
          </a:xfrm>
          <a:prstGeom prst="ellipse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41280" y="198424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78440" y="1975104"/>
            <a:ext cx="4572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◆ www.dga.or.th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64040" y="2231136"/>
            <a:ext cx="1920240" cy="256032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555480" y="2313432"/>
            <a:ext cx="45720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64040" y="2542032"/>
            <a:ext cx="1920240" cy="953902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64040" y="2542032"/>
            <a:ext cx="1920240" cy="9539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Hero + ค้นหา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55480" y="3569086"/>
            <a:ext cx="1737360" cy="834664"/>
          </a:xfrm>
          <a:prstGeom prst="roundRect">
            <a:avLst>
              <a:gd name="adj" fmla="val 10000"/>
            </a:avLst>
          </a:prstGeom>
          <a:solidFill>
            <a:srgbClr val="FFF3EC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64040" y="52852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Mobile — เมนู≡ 1 คอลัมน์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5532120"/>
            <a:ext cx="10607040" cy="777240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650992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2410C"/>
                </a:solidFill>
                <a:latin typeface="Kanit"/>
                <a:ea typeface="Kanit"/>
                <a:cs typeface="Kanit"/>
              </a:rPr>
              <a:t>Mobile-first</a:t>
            </a:r>
            <a:r>
              <a:rPr sz="12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 • breakpoints 500/750/1000/1920 • ภาพ responsive อัตโนมัติ • แตะง่าย ≥44px • </a:t>
            </a:r>
            <a:r>
              <a:rPr sz="120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ทดสอบ Chrome/Edge/Firefox/Safari + Android/iOS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39735" y="6291072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39735" y="6286500"/>
            <a:ext cx="37490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6.1 (2.4) • Responsive 3 อุปกรณ์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2.5  MOCKUP —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ต้นแบบหน้าจอ (1/3): หน้าแรก + AI 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1828800"/>
            <a:ext cx="905256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CD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54480" y="1828800"/>
            <a:ext cx="9052560" cy="310896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0784" y="1938528"/>
            <a:ext cx="91440" cy="91440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65376" y="1938528"/>
            <a:ext cx="91440" cy="9144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9967" y="1938528"/>
            <a:ext cx="91440" cy="91440"/>
          </a:xfrm>
          <a:prstGeom prst="ellipse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31720" y="1892807"/>
            <a:ext cx="76809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883664"/>
            <a:ext cx="75895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◆ www.dga.or.th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139696"/>
            <a:ext cx="9052560" cy="20116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39" y="2139696"/>
            <a:ext cx="3657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การเข้าถึง: ก- ก ก+  | โหมดความต่างสูง | ข้ามไปเนื้อหา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59" y="2139696"/>
            <a:ext cx="1874519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EE5020"/>
                </a:solidFill>
                <a:latin typeface="Ubuntu"/>
                <a:ea typeface="Ubuntu"/>
                <a:cs typeface="Ubuntu"/>
              </a:rPr>
              <a:t>WCAG 2.2 AA  | TH | 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2340864"/>
            <a:ext cx="9052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2340864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DGA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39" y="2340864"/>
            <a:ext cx="1280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หน้าแรก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340864"/>
            <a:ext cx="1280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บริการ 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340864"/>
            <a:ext cx="1280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ข่าวสาร 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2340864"/>
            <a:ext cx="1280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บริการออนไลน์ 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2340864"/>
            <a:ext cx="1280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เกี่ยวกับ สพร. 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2724912"/>
            <a:ext cx="9052560" cy="3264408"/>
          </a:xfrm>
          <a:prstGeom prst="rect">
            <a:avLst/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54480" y="2724912"/>
            <a:ext cx="9052560" cy="3264408"/>
          </a:xfrm>
          <a:prstGeom prst="rect">
            <a:avLst/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3136392"/>
            <a:ext cx="9052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บริการรัฐบาลดิจิทัล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เพื่อประชาชนทุกคน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325112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CAD0"/>
                </a:solidFill>
                <a:latin typeface="Kanit"/>
                <a:ea typeface="Kanit"/>
                <a:cs typeface="Kanit"/>
              </a:rPr>
              <a:t>ค้นหาบริการ เอกสาร และข้อมูลภาครัฐได้ในที่เดียว หรือถามผู้ช่วย 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4782312"/>
            <a:ext cx="54864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4782312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ค้นหาบริการ เช่น “มาตรฐาน EA”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4855464"/>
            <a:ext cx="1051560" cy="310896"/>
          </a:xfrm>
          <a:prstGeom prst="roundRect">
            <a:avLst>
              <a:gd name="adj" fmla="val 3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4846320"/>
            <a:ext cx="1051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ค้นหา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422392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ขับเคลื่อนด้วย AI Smart Search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88375" y="6291072"/>
            <a:ext cx="3200400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8375" y="6286500"/>
            <a:ext cx="3200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6.1 (2.5) • Mockup หน้าแรก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2.5  MOCKUP —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ต้นแบบหน้าจอ (2/3): ผลค้นหา + AI Smart 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1828800"/>
            <a:ext cx="905256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CD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54480" y="1828800"/>
            <a:ext cx="9052560" cy="310896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0784" y="1938528"/>
            <a:ext cx="91440" cy="91440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65376" y="1938528"/>
            <a:ext cx="91440" cy="9144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9967" y="1938528"/>
            <a:ext cx="91440" cy="91440"/>
          </a:xfrm>
          <a:prstGeom prst="ellipse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31720" y="1892807"/>
            <a:ext cx="76809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883664"/>
            <a:ext cx="75895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◆ www.dga.or.th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139696"/>
            <a:ext cx="9052560" cy="411480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2139696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ผลการค้นหา: “ขอใบรับรองดิจิทัล”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3080" y="2734056"/>
            <a:ext cx="8595360" cy="1234440"/>
          </a:xfrm>
          <a:prstGeom prst="roundRect">
            <a:avLst>
              <a:gd name="adj" fmla="val 5000"/>
            </a:avLst>
          </a:prstGeom>
          <a:solidFill>
            <a:srgbClr val="FFF3EC"/>
          </a:solidFill>
          <a:ln w="16510">
            <a:solidFill>
              <a:srgbClr val="EE5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0" y="28529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410C"/>
                </a:solidFill>
                <a:latin typeface="Kanit"/>
                <a:ea typeface="Kanit"/>
                <a:cs typeface="Kanit"/>
              </a:rPr>
              <a:t>◆ คำตอบจากผู้ช่วย AI (Government AI Smart Search)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163824"/>
            <a:ext cx="8183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ท่านสามารถขอใบรับรองดิจิทัลผ่านบริการออนไลน์ของ สพร. โดยยืนยันตัวตนด้วย ThaID จากนั้นกรอกแบบฟอร์มและแนบเอกสาร ระบบจะส่งเลขอ้างอิงทางอีเมลอัตโนมัติ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76732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13497A"/>
                </a:solidFill>
                <a:latin typeface="Ubuntu"/>
                <a:ea typeface="Ubuntu"/>
                <a:cs typeface="Ubuntu"/>
              </a:rPr>
              <a:t>อ้างอิง: หน้าบริการรับรองดิจิทัล • คู่มือ.pdf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83080" y="4151376"/>
            <a:ext cx="85953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65960" y="4224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หน้าบริการ — การขอใบรับรองดิจิทัล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462272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บริการออนไลน์ • อัปเดต 2569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83080" y="4791456"/>
            <a:ext cx="85953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5960" y="486460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คู่มือการใช้งาน.pdf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102352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พบคำค้นในไฟล์ PDF (Full-text)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83080" y="5431536"/>
            <a:ext cx="85953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65960" y="55046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แบบฟอร์มคำขอ.docx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5742432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พบคำค้นในไฟล์ DOCX (Full-text)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71255" y="6291072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71255" y="6286500"/>
            <a:ext cx="3017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6.1 (2.5) • Mockup ค้นหา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2.5  MOCKUP —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ต้นแบบหน้าจอ (3/3): หลังบ้าน WebX Console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1828800"/>
            <a:ext cx="905256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CD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54480" y="1828800"/>
            <a:ext cx="9052560" cy="310896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0784" y="1938528"/>
            <a:ext cx="91440" cy="91440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65376" y="1938528"/>
            <a:ext cx="91440" cy="9144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9967" y="1938528"/>
            <a:ext cx="91440" cy="91440"/>
          </a:xfrm>
          <a:prstGeom prst="ellipse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31720" y="1892807"/>
            <a:ext cx="76809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883664"/>
            <a:ext cx="75895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◆ www.dga.or.th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139696"/>
            <a:ext cx="2286000" cy="3849624"/>
          </a:xfrm>
          <a:prstGeom prst="rect">
            <a:avLst/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23225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WebX Console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64207" y="2752344"/>
            <a:ext cx="2066543" cy="36576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0512" y="2779776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◆  ภาพรวม/Analytics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3236976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CAD0"/>
                </a:solidFill>
                <a:latin typeface="Kanit"/>
                <a:ea typeface="Kanit"/>
                <a:cs typeface="Kanit"/>
              </a:rPr>
              <a:t>◆  จัดการเนื้อหา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0512" y="3694176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CAD0"/>
                </a:solidFill>
                <a:latin typeface="Kanit"/>
                <a:ea typeface="Kanit"/>
                <a:cs typeface="Kanit"/>
              </a:rPr>
              <a:t>◆  ผู้ใช้/สิทธิ์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4151376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CAD0"/>
                </a:solidFill>
                <a:latin typeface="Kanit"/>
                <a:ea typeface="Kanit"/>
                <a:cs typeface="Kanit"/>
              </a:rPr>
              <a:t>◆  Live 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0512" y="4608576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CAD0"/>
                </a:solidFill>
                <a:latin typeface="Kanit"/>
                <a:ea typeface="Kanit"/>
                <a:cs typeface="Kanit"/>
              </a:rPr>
              <a:t>◆  แบรนด์/ธีม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0512" y="5065776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9CAD0"/>
                </a:solidFill>
                <a:latin typeface="Kanit"/>
                <a:ea typeface="Kanit"/>
                <a:cs typeface="Kanit"/>
              </a:rPr>
              <a:t>◆  ส่งออก Excel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230428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ภาพรวมหน่วยงาน (Tenant: สพร.)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0" y="2779776"/>
            <a:ext cx="29718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2889504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12,840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33101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ผู้เข้าชม/วัน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2779776"/>
            <a:ext cx="29718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2889504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E7B34"/>
                </a:solidFill>
                <a:latin typeface="Ubuntu"/>
                <a:ea typeface="Ubuntu"/>
                <a:cs typeface="Ubuntu"/>
              </a:rPr>
              <a:t>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3101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คะแนน Lighthouse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69080" y="3739896"/>
            <a:ext cx="29718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3849624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1,204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427024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เนื้อหาเผยแพร่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60" y="3739896"/>
            <a:ext cx="29718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3849624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8A5A00"/>
                </a:solidFill>
                <a:latin typeface="Ubuntu"/>
                <a:ea typeface="Ubuntu"/>
                <a:cs typeface="Ubuntu"/>
              </a:rPr>
              <a:t>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427024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เรื่องร้องเรียนใหม่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69080" y="4837176"/>
            <a:ext cx="6126480" cy="1325880"/>
          </a:xfrm>
          <a:prstGeom prst="roundRect">
            <a:avLst>
              <a:gd name="adj" fmla="val 5000"/>
            </a:avLst>
          </a:prstGeom>
          <a:solidFill>
            <a:srgbClr val="F5F4F0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497433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แนวโน้มผู้เข้าชม (GA + Clarity Heatmap)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5614416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074920" y="5468112"/>
            <a:ext cx="502920" cy="512063"/>
          </a:xfrm>
          <a:prstGeom prst="roundRect">
            <a:avLst>
              <a:gd name="adj" fmla="val 20000"/>
            </a:avLst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852160" y="5577840"/>
            <a:ext cx="502920" cy="402336"/>
          </a:xfrm>
          <a:prstGeom prst="roundRect">
            <a:avLst>
              <a:gd name="adj" fmla="val 20000"/>
            </a:avLst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629400" y="5321808"/>
            <a:ext cx="502920" cy="658368"/>
          </a:xfrm>
          <a:prstGeom prst="roundRect">
            <a:avLst>
              <a:gd name="adj" fmla="val 20000"/>
            </a:avLst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06640" y="5431536"/>
            <a:ext cx="502920" cy="548640"/>
          </a:xfrm>
          <a:prstGeom prst="roundRect">
            <a:avLst>
              <a:gd name="adj" fmla="val 20000"/>
            </a:avLst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83879" y="5248656"/>
            <a:ext cx="502920" cy="731520"/>
          </a:xfrm>
          <a:prstGeom prst="roundRect">
            <a:avLst>
              <a:gd name="adj" fmla="val 20000"/>
            </a:avLst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61120" y="5358384"/>
            <a:ext cx="502920" cy="621792"/>
          </a:xfrm>
          <a:prstGeom prst="roundRect">
            <a:avLst>
              <a:gd name="adj" fmla="val 20000"/>
            </a:avLst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396935" y="6291072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96935" y="6286500"/>
            <a:ext cx="3291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6.1 (2.5) • Mockup หลังบ้าน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SECTION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880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ฟังก์ชันระบบ 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9CAD0"/>
                </a:solidFill>
                <a:latin typeface="Kanit"/>
                <a:ea typeface="Kanit"/>
                <a:cs typeface="Kanit"/>
              </a:rPr>
              <a:t>โมดูลตามภาคผนวก — ทำงานจริงในต้นแบบ พร้อมสาธิตสด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2468880"/>
            <a:ext cx="2651760" cy="155448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EE5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8415" y="269748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8415" y="36118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CAD0"/>
                </a:solidFill>
                <a:latin typeface="Kanit"/>
                <a:ea typeface="Kanit"/>
                <a:cs typeface="Kanit"/>
              </a:rPr>
              <a:t>น้ำหนักคะแนน TOR 6.1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CMS ครบ 29 โมดูล — ต้นแบบทำงานได้จริง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64208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73152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664208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Home (Hero/Video)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53512" y="1664208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53512" y="1664208"/>
            <a:ext cx="73152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8104" y="1664208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Template 3 แบบ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9783" y="1664208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9783" y="1664208"/>
            <a:ext cx="73152" cy="60350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94375" y="1664208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Content + WYSIWYG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06055" y="1664208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06055" y="1664208"/>
            <a:ext cx="73152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0648" y="1664208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News/ประกาศ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82328" y="1664208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82328" y="1664208"/>
            <a:ext cx="73152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19" y="1664208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Photo Gallery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2359152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2359152"/>
            <a:ext cx="73152" cy="60350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2359152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Video Gallery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53512" y="2359152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53512" y="2359152"/>
            <a:ext cx="73152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18104" y="2359152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Hybrid Search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9783" y="2359152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29783" y="2359152"/>
            <a:ext cx="73152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94375" y="2359152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AI Smart Search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06055" y="2359152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06055" y="2359152"/>
            <a:ext cx="73152" cy="60350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70648" y="2359152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Schema (GEO/AEO)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82328" y="2359152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2328" y="2359152"/>
            <a:ext cx="73152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19" y="2359152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Contact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3054096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3054096"/>
            <a:ext cx="73152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" y="3054096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Live Chat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53512" y="3054096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53512" y="3054096"/>
            <a:ext cx="73152" cy="60350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18104" y="3054096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Form + Auto Email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9783" y="3054096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29783" y="3054096"/>
            <a:ext cx="73152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94375" y="3054096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Vote / Poll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06055" y="3054096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06055" y="3054096"/>
            <a:ext cx="73152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70648" y="3054096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Blog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82328" y="3054096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482328" y="3054096"/>
            <a:ext cx="73152" cy="60350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46919" y="3054096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e-Book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" y="3749040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7240" y="3749040"/>
            <a:ext cx="73152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1832" y="3749040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Banner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953512" y="3749040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953512" y="3749040"/>
            <a:ext cx="73152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18104" y="3749040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e-Catalog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129783" y="3749040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29783" y="3749040"/>
            <a:ext cx="73152" cy="60350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94375" y="3749040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FAQ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06055" y="3749040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306055" y="3749040"/>
            <a:ext cx="73152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70648" y="3749040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Download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482328" y="3749040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482328" y="3749040"/>
            <a:ext cx="73152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46919" y="3749040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Popup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77240" y="4443984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7240" y="4443984"/>
            <a:ext cx="73152" cy="60350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1832" y="4443984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Link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953512" y="4443984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953512" y="4443984"/>
            <a:ext cx="73152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118104" y="4443984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Top Graphic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129783" y="4443984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129783" y="4443984"/>
            <a:ext cx="73152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294375" y="4443984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Sitemap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06055" y="4443984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306055" y="4443984"/>
            <a:ext cx="73152" cy="60350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70648" y="4443984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Landing/Splash (no-code)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482328" y="4443984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482328" y="4443984"/>
            <a:ext cx="73152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46919" y="4443984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Map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77240" y="5138928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77240" y="5138928"/>
            <a:ext cx="73152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41832" y="5138928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Web Analytics + Heatmap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953512" y="5138928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953512" y="5138928"/>
            <a:ext cx="73152" cy="60350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18104" y="5138928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Cookie Consent (PDPA)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129783" y="5138928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129783" y="5138928"/>
            <a:ext cx="73152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294375" y="5138928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Multi-tenant Console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306055" y="5138928"/>
            <a:ext cx="2084831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306055" y="5138928"/>
            <a:ext cx="73152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470648" y="5138928"/>
            <a:ext cx="185623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◆ SSO + MFA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7240" y="605332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ครบตามภาคผนวก TOR — แต่ละโมดูลแยก HTML/CSS/JS ชัดเจน ส่งมอบ Source Code เต็ม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488375" y="6291072"/>
            <a:ext cx="3200400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488375" y="6286500"/>
            <a:ext cx="3200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ข้อ 4 + ภาคผนวก • 29 โมดูล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16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SEARCH &amp;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ค้นหาอัจฉริยะ — Hybrid + Full-text + Government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21208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91440" cy="1261872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0116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116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Simple + Advanced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2395728"/>
            <a:ext cx="3931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ค้นด้วยคีย์เวิร์ด กรองตามหมวด/วันที่/ประเภท + ค้นขั้นสูง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521208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828800"/>
            <a:ext cx="91440" cy="1261872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20116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0116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Full-text ในไฟล์เอกสาร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2395728"/>
            <a:ext cx="3931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สกัดข้อความค้นใน PDF / DOCX / XLSX / PPTX ได้จริง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46120"/>
            <a:ext cx="521208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246120"/>
            <a:ext cx="91440" cy="126187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34290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C2410C"/>
                </a:solidFill>
                <a:latin typeface="Ubuntu"/>
                <a:ea typeface="Ubuntu"/>
                <a:cs typeface="Ubuntu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4290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Government AI Smart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3813048"/>
            <a:ext cx="3931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ผู้ช่วย AI ตอบคำถามจากเนื้อหาเว็บจริง + อ้างอิงแหล่ง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246120"/>
            <a:ext cx="521208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246120"/>
            <a:ext cx="91440" cy="1261872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4290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E7B34"/>
                </a:solidFill>
                <a:latin typeface="Ubuntu"/>
                <a:ea typeface="Ubuntu"/>
                <a:cs typeface="Ubuntu"/>
              </a:rPr>
              <a:t>{}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4290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Schema.org (GEO / AEO)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3813048"/>
            <a:ext cx="3931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ฝัง JSON-LD ให้ Google + AI engine อ้างอิงเว็บได้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754880"/>
            <a:ext cx="10607040" cy="1234440"/>
          </a:xfrm>
          <a:prstGeom prst="roundRect">
            <a:avLst>
              <a:gd name="adj" fmla="val 6000"/>
            </a:avLst>
          </a:prstGeom>
          <a:solidFill>
            <a:srgbClr val="E7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892040"/>
            <a:ext cx="10149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GEO + AEO:</a:t>
            </a:r>
            <a:r>
              <a:rPr sz="12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 ทุกหน้าบริการมี Answer Block (คำถาม→คำตอบสั้น 40–60 คำ) + FAQPage + HowTo + Breadcrumb + llms.txt + sitemap.xml </a:t>
            </a:r>
            <a:r>
              <a:rPr sz="1200" b="1">
                <a:solidFill>
                  <a:srgbClr val="C2410C"/>
                </a:solidFill>
                <a:latin typeface="Kanit"/>
                <a:ea typeface="Kanit"/>
                <a:cs typeface="Kanit"/>
              </a:rPr>
              <a:t>→ ทำให้เว็บ สพร. ถูกอ้างอิงโดย Generative AI และตอบคำถามตรงจุด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65415" y="6291072"/>
            <a:ext cx="4023360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65415" y="6286500"/>
            <a:ext cx="4023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ข้อ 4 • Hybrid Search + AI + Schema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PLATFORM &amp;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Multi-Tenant Console + PDPA by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2120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WebX Console — หลังบ้านรวมศูนย์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377440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เข้าระบบครั้งเดียว → Analytics / Content / Users / Chat / Branding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986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898648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Multi-tenant: หลายหน่วยงานในแพลตฟอร์มเดียว แยกข้อมูลเด็ดขาด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1985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SSO เข้าหลังบ้าน Strapi โดยไม่ต้องล็อกอินซ้ำ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94106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941063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MFA + session/idle timeout สำหรับ Back-Office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46227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462272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ปรับแบรนด์/ธีม/ลายน้ำต่อหน่วยงาน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834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983480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ส่งออกข้อมูลเป็น Excel (สิทธิ์ผู้ดูแล)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828800"/>
            <a:ext cx="5212080" cy="365760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PDPA &amp; ความเป็นส่วนตัว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3774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40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Cookie Consent แบบ granular: opt-in/out รายหมวด default 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8986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898648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บันทึก Consent Log + 2 ภาษา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41985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419856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ข้อมูลที่ประชาชนส่ง (ร้องเรียน/สมัคร/ติดต่อ) อ่านสาธารณะไม่ได้ — create-only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94106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941063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ลงทะเบียนไม่เก็บรหัสผ่าน • เลขบัตรเก็บแบบ masked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46227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462272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CAPTCHA กันบอท + Data Validation ทุกฟอร์ม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9834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983480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เข้ารหัสข้อมูล + Traffic Log ตาม พ.ร.บ.คอมพิวเตอร์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82535" y="6291072"/>
            <a:ext cx="4206240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82535" y="6286500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ข้อ 4 + PDPA • Multi-tenant + Privacy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SECTION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880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สถาปัตยกรรม &amp;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9CAD0"/>
                </a:solidFill>
                <a:latin typeface="Kanit"/>
                <a:ea typeface="Kanit"/>
                <a:cs typeface="Kanit"/>
              </a:rPr>
              <a:t>ความมั่นคงปลอดภัย — MFA + Session + DR Site = คะแนนเต็ม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2468880"/>
            <a:ext cx="2651760" cy="155448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EE5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8415" y="269748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8415" y="36118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CAD0"/>
                </a:solidFill>
                <a:latin typeface="Kanit"/>
                <a:ea typeface="Kanit"/>
                <a:cs typeface="Kanit"/>
              </a:rPr>
              <a:t>น้ำหนักคะแนน TOR 6.1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สถาปัตยกรรมระบบ — แยกชั้น ปลอดภัย พร้อม DR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291840" cy="1234440"/>
          </a:xfrm>
          <a:prstGeom prst="roundRect">
            <a:avLst>
              <a:gd name="adj" fmla="val 5000"/>
            </a:avLst>
          </a:prstGeom>
          <a:solidFill>
            <a:srgbClr val="E7EEF8"/>
          </a:solidFill>
          <a:ln w="16510">
            <a:solidFill>
              <a:srgbClr val="134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291840" cy="310896"/>
          </a:xfrm>
          <a:prstGeom prst="roundRect">
            <a:avLst>
              <a:gd name="adj" fmla="val 12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29967"/>
            <a:ext cx="3291840" cy="155448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3291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ผู้ใช้ /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• เบราว์เซอร์ (Chrome/Edge/FF/Safari)
• CDN + WAF + HTTPS/TLS
• Cache + Rate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860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EE5020"/>
                </a:solidFill>
                <a:latin typeface="Kanit"/>
                <a:ea typeface="Kanit"/>
                <a:cs typeface="Kanit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74519"/>
            <a:ext cx="3291840" cy="1234440"/>
          </a:xfrm>
          <a:prstGeom prst="roundRect">
            <a:avLst>
              <a:gd name="adj" fmla="val 5000"/>
            </a:avLst>
          </a:prstGeom>
          <a:solidFill>
            <a:srgbClr val="FFF3EC"/>
          </a:solidFill>
          <a:ln w="16510">
            <a:solidFill>
              <a:srgbClr val="EE5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874519"/>
            <a:ext cx="3291840" cy="310896"/>
          </a:xfrm>
          <a:prstGeom prst="roundRect">
            <a:avLst>
              <a:gd name="adj" fmla="val 12000"/>
            </a:avLst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2029967"/>
            <a:ext cx="3291840" cy="155448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74519"/>
            <a:ext cx="3291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Front-end (Static)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258568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• HTML/CSS/JS render ล่วงหน้า
• Schema JSON-LD
• Lighthouse-optimized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2860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EE5020"/>
                </a:solidFill>
                <a:latin typeface="Kanit"/>
                <a:ea typeface="Kanit"/>
                <a:cs typeface="Kanit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874519"/>
            <a:ext cx="3017520" cy="1234440"/>
          </a:xfrm>
          <a:prstGeom prst="roundRect">
            <a:avLst>
              <a:gd name="adj" fmla="val 5000"/>
            </a:avLst>
          </a:prstGeom>
          <a:solidFill>
            <a:srgbClr val="FBEFD6"/>
          </a:solidFill>
          <a:ln w="1651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66760" y="1874519"/>
            <a:ext cx="3017520" cy="310896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60" y="2029967"/>
            <a:ext cx="3017520" cy="1554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874519"/>
            <a:ext cx="3017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API 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258568"/>
            <a:ext cx="2743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• Reverse proxy
• Auth / MFA
• Traffic 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429000"/>
            <a:ext cx="5120640" cy="1371600"/>
          </a:xfrm>
          <a:prstGeom prst="roundRect">
            <a:avLst>
              <a:gd name="adj" fmla="val 5000"/>
            </a:avLst>
          </a:prstGeom>
          <a:solidFill>
            <a:srgbClr val="FFF3EC"/>
          </a:solidFill>
          <a:ln w="16510">
            <a:solidFill>
              <a:srgbClr val="EE5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3429000"/>
            <a:ext cx="5120640" cy="310896"/>
          </a:xfrm>
          <a:prstGeom prst="roundRect">
            <a:avLst>
              <a:gd name="adj" fmla="val 12000"/>
            </a:avLst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3584448"/>
            <a:ext cx="5120640" cy="155448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429000"/>
            <a:ext cx="5120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Application — Strapi Headless CMS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813048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• 29 โมดูล + REST API • สิทธิ์ผู้ใช้/Role
• Multi-tenant scoping • Document Service
• AI Smart Search service • อีเมลอัตโนมัติ (SMTP)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0233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EE5020"/>
                </a:solidFill>
                <a:latin typeface="Kanit"/>
                <a:ea typeface="Kanit"/>
                <a:cs typeface="Kanit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42900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E7EEF8"/>
          </a:solidFill>
          <a:ln w="16510">
            <a:solidFill>
              <a:srgbClr val="134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3429000"/>
            <a:ext cx="2377440" cy="310896"/>
          </a:xfrm>
          <a:prstGeom prst="roundRect">
            <a:avLst>
              <a:gd name="adj" fmla="val 12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584448"/>
            <a:ext cx="2377440" cy="155448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429000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813048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• ฐานข้อมูล
• Media/Upload
(บีบอัด+responsive)
• Backup รายวัน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40233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E7B34"/>
                </a:solidFill>
                <a:latin typeface="Kanit"/>
                <a:ea typeface="Kanit"/>
                <a:cs typeface="Kanit"/>
              </a:rPr>
              <a:t>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0" y="3429000"/>
            <a:ext cx="2423160" cy="1371600"/>
          </a:xfrm>
          <a:prstGeom prst="roundRect">
            <a:avLst>
              <a:gd name="adj" fmla="val 5000"/>
            </a:avLst>
          </a:prstGeom>
          <a:solidFill>
            <a:srgbClr val="E5F4E8"/>
          </a:solidFill>
          <a:ln w="1651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61120" y="3429000"/>
            <a:ext cx="2423160" cy="310896"/>
          </a:xfrm>
          <a:prstGeom prst="roundRect">
            <a:avLst>
              <a:gd name="adj" fmla="val 12000"/>
            </a:avLst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61120" y="3584448"/>
            <a:ext cx="2423160" cy="155448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0" y="3429000"/>
            <a:ext cx="2423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DR Site (Standby)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3813048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• Active–Standby
• Replication
• RTO/RPO ≤ 1 ชม.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074920"/>
            <a:ext cx="10607040" cy="91440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193792"/>
            <a:ext cx="10149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Headless แยก Front-end ออกจาก CMS</a:t>
            </a:r>
            <a:r>
              <a:rPr sz="11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 → หน้าเว็บเป็น static (เร็ว+ปลอดภัย ลดพื้นที่โจมตี), หลังบ้านอยู่หลัง API Gateway + MFA, </a:t>
            </a:r>
            <a:r>
              <a:rPr sz="1150" b="1">
                <a:solidFill>
                  <a:srgbClr val="1E7B34"/>
                </a:solidFill>
                <a:latin typeface="Kanit"/>
                <a:ea typeface="Kanit"/>
                <a:cs typeface="Kanit"/>
              </a:rPr>
              <a:t>มี DR Site สำรองพร้อมสลับ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96935" y="6291072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6935" y="6286500"/>
            <a:ext cx="3291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ข้อ 4 • System Architecture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19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ความมั่นคงปลอดภัย — ครบเพื่อคะแนนเต็มหมวด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21208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91440" cy="896112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5681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MFA สำหรับ Back-Office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230428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ยืนยันตัวตนหลายปัจจัยก่อนเข้าหลังบ้าน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521208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828800"/>
            <a:ext cx="91440" cy="896112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95681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Session / Idle Timeout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230428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หมดเวลาอัตโนมัติเมื่อไม่ใช้งาน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852928"/>
            <a:ext cx="521208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2852928"/>
            <a:ext cx="91440" cy="89611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03580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98094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SSL/TLS (HTTPS)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" y="332841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เข้ารหัสการรับส่งข้อมูลทุกหน้า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852928"/>
            <a:ext cx="521208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852928"/>
            <a:ext cx="91440" cy="896112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03580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98094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PDPA + Consent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332841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คุ้มครองข้อมูลส่วนบุคคล + บันทึกความยินยอม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877056"/>
            <a:ext cx="521208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877056"/>
            <a:ext cx="91440" cy="896112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05993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00507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CAPTCHA +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435254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กันบอท + ตรวจสอบข้อมูลนำเข้า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877056"/>
            <a:ext cx="521208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3877056"/>
            <a:ext cx="91440" cy="89611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05993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00507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Encryption + Traffic 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0608" y="435254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เข้ารหัสข้อมูล + log ตาม พ.ร.บ.คอมพิวเตอร์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901184"/>
            <a:ext cx="521208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4901184"/>
            <a:ext cx="91440" cy="896112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5084064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50292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Vulnerability Scan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55648" y="537667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สแกนช่องโหว่ + Penetration Test (งวด 4)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4901184"/>
            <a:ext cx="521208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4901184"/>
            <a:ext cx="91440" cy="896112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5084064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50292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Backup + DR Site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50608" y="537667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สำรองรายวัน + กู้คืน RTO/RPO ≤ 1 ชม.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99655" y="6291072"/>
            <a:ext cx="4389120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99655" y="6286500"/>
            <a:ext cx="4389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6.1 Security (10%) • MFA + Session + DR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RESILIENCE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DR Site (RTO/RPO) + ประสิทธิภาพเว็บ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Disaster Recovery — คะแนนเต็ม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สถาปัตยกรรม Active–Standby: หาก Primary ล่ม สลับมา Standby ได้ตามเป้า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06324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E5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27832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E7B34"/>
                </a:solidFill>
                <a:latin typeface="Ubuntu"/>
                <a:ea typeface="Ubuntu"/>
                <a:cs typeface="Ubuntu"/>
              </a:rPr>
              <a:t>RTO ≤ 1 ชม.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21608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เวลากู้คืนระบบ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06324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E5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3227832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E7B34"/>
                </a:solidFill>
                <a:latin typeface="Ubuntu"/>
                <a:ea typeface="Ubuntu"/>
                <a:cs typeface="Ubuntu"/>
              </a:rPr>
              <a:t>RPO ≤ 1 ชม.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721608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ข้อมูลสูญเสียสูงสุด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29768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E5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62272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E7B34"/>
                </a:solidFill>
                <a:latin typeface="Ubuntu"/>
                <a:ea typeface="Ubuntu"/>
                <a:cs typeface="Ubuntu"/>
              </a:rPr>
              <a:t>Backup รายวัน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56048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หมุนเวียน 30 ชุด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429768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E5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4462272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E7B34"/>
                </a:solidFill>
                <a:latin typeface="Ubuntu"/>
                <a:ea typeface="Ubuntu"/>
                <a:cs typeface="Ubuntu"/>
              </a:rPr>
              <a:t>Replication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956048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ข้อมูลซิงค์ต่อเนื่อง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82880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Page Speed / Lighthouse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688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Performance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761488"/>
            <a:ext cx="3657600" cy="201168"/>
          </a:xfrm>
          <a:prstGeom prst="roundRect">
            <a:avLst>
              <a:gd name="adj" fmla="val 5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2761488"/>
            <a:ext cx="3511296" cy="201168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26700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7B34"/>
                </a:solidFill>
                <a:latin typeface="Ubuntu"/>
                <a:ea typeface="Ubuntu"/>
                <a:cs typeface="Ubuntu"/>
              </a:rPr>
              <a:t>96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1821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Accessibility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474720"/>
            <a:ext cx="3657600" cy="201168"/>
          </a:xfrm>
          <a:prstGeom prst="roundRect">
            <a:avLst>
              <a:gd name="adj" fmla="val 5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0" y="3474720"/>
            <a:ext cx="3657600" cy="201168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33832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7B34"/>
                </a:solidFill>
                <a:latin typeface="Ubuntu"/>
                <a:ea typeface="Ubuntu"/>
                <a:cs typeface="Ubuntu"/>
              </a:rPr>
              <a:t>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89534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Best Practices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187952"/>
            <a:ext cx="3657600" cy="201168"/>
          </a:xfrm>
          <a:prstGeom prst="roundRect">
            <a:avLst>
              <a:gd name="adj" fmla="val 5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187952"/>
            <a:ext cx="3474720" cy="201168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409651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7B34"/>
                </a:solidFill>
                <a:latin typeface="Ubuntu"/>
                <a:ea typeface="Ubuntu"/>
                <a:cs typeface="Ubuntu"/>
              </a:rPr>
              <a:t>95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6085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SEO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901184"/>
            <a:ext cx="3657600" cy="201168"/>
          </a:xfrm>
          <a:prstGeom prst="roundRect">
            <a:avLst>
              <a:gd name="adj" fmla="val 50000"/>
            </a:avLst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0800" y="4901184"/>
            <a:ext cx="3657600" cy="201168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480974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7B34"/>
                </a:solidFill>
                <a:latin typeface="Ubuntu"/>
                <a:ea typeface="Ubuntu"/>
                <a:cs typeface="Ubuntu"/>
              </a:rPr>
              <a:t>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4406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ภาพ responsive อัตโนมัติ • lazy-load • self-host font • static = TTFB ต่ำ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48295" y="6291072"/>
            <a:ext cx="3840480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48295" y="6286500"/>
            <a:ext cx="3840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Security (DR) + 4.1.6 Performance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SECTION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880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แผนงาน • SLA • สาธิต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9CAD0"/>
                </a:solidFill>
                <a:latin typeface="Kanit"/>
                <a:ea typeface="Kanit"/>
                <a:cs typeface="Kanit"/>
              </a:rPr>
              <a:t>ส่งมอบ 4 งวด • รับประกัน 1 ปี • สาธิตสด 2 หน้า = 20 คะแนน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2468880"/>
            <a:ext cx="2651760" cy="155448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EE5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8415" y="269748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8415" y="36118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CAD0"/>
                </a:solidFill>
                <a:latin typeface="Kanit"/>
                <a:ea typeface="Kanit"/>
                <a:cs typeface="Kanit"/>
              </a:rPr>
              <a:t>น้ำหนักคะแนน TOR 6.1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PROJECT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แผนการดำเนินงาน 4 งวด — 365 วัน / 3,000,000 บาท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ไทม์ไลน์ (สัดส่วนตามระยะเวลา)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826091" cy="502920"/>
          </a:xfrm>
          <a:prstGeom prst="roundRect">
            <a:avLst>
              <a:gd name="adj" fmla="val 2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82609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งวด 1 • 10%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9051" y="2148840"/>
            <a:ext cx="826091" cy="502920"/>
          </a:xfrm>
          <a:prstGeom prst="roundRect">
            <a:avLst>
              <a:gd name="adj" fmla="val 20000"/>
            </a:avLst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9051" y="2148840"/>
            <a:ext cx="82609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งวด 2 • 40%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20863" y="2148840"/>
            <a:ext cx="3441526" cy="502920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0863" y="2148840"/>
            <a:ext cx="344152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งวด 3 • 30%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8109" y="2148840"/>
            <a:ext cx="5330450" cy="502920"/>
          </a:xfrm>
          <a:prstGeom prst="roundRect">
            <a:avLst>
              <a:gd name="adj" fmla="val 20000"/>
            </a:avLst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08109" y="2148840"/>
            <a:ext cx="533045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งวด 4 • 20%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926080"/>
            <a:ext cx="106070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926080"/>
            <a:ext cx="91440" cy="658368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99232"/>
            <a:ext cx="1371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งวด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01752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ภายใน 30 วัน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090672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086100"/>
            <a:ext cx="777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999232"/>
            <a:ext cx="6675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Project Plan • Requirement • Architecture • Server Spec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675888"/>
            <a:ext cx="106070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675888"/>
            <a:ext cx="91440" cy="658368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749040"/>
            <a:ext cx="1371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งวด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767328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ภายใน 60 วัน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384048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3835908"/>
            <a:ext cx="777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40%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749040"/>
            <a:ext cx="6675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Design Concept • Sitemap • Mockup • Prototype • User Flow • CMS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425696"/>
            <a:ext cx="106070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425696"/>
            <a:ext cx="91440" cy="65836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498848"/>
            <a:ext cx="1371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2410C"/>
                </a:solidFill>
                <a:latin typeface="Kanit"/>
                <a:ea typeface="Kanit"/>
                <a:cs typeface="Kanit"/>
              </a:rPr>
              <a:t>งวด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517136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ภายใน 180 วัน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4590288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4585716"/>
            <a:ext cx="777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410C"/>
                </a:solidFill>
                <a:latin typeface="Kanit"/>
                <a:ea typeface="Kanit"/>
                <a:cs typeface="Kanit"/>
              </a:rPr>
              <a:t>30%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498848"/>
            <a:ext cx="6675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Source Code • Test Script • UAT • User Manual • Backup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175504"/>
            <a:ext cx="106070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5175504"/>
            <a:ext cx="91440" cy="658368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5248656"/>
            <a:ext cx="1371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7B34"/>
                </a:solidFill>
                <a:latin typeface="Kanit"/>
                <a:ea typeface="Kanit"/>
                <a:cs typeface="Kanit"/>
              </a:rPr>
              <a:t>งวด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5266944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ภายใน 365 วัน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0" y="5340096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0" y="5335524"/>
            <a:ext cx="777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7B34"/>
                </a:solidFill>
                <a:latin typeface="Kanit"/>
                <a:ea typeface="Kanit"/>
                <a:cs typeface="Kanit"/>
              </a:rPr>
              <a:t>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5248656"/>
            <a:ext cx="6675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Warranty • อบรม Admin • Penetration Test • ส่งมอบ Source+License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28455" y="6291072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8455" y="628650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ข้อ 7–8 • งบ/งวดงาน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SLA &amp; WARRANTY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ระดับการให้บริการ (SLA) + การรับประกัน 1 ปี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10607040" cy="457200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ระดับ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74519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ลักษณะปัญหา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74519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เป้าหมายตอบสนอง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31720"/>
            <a:ext cx="10607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331720"/>
            <a:ext cx="91440" cy="64008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2496312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91740"/>
            <a:ext cx="1463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3261E"/>
                </a:solidFill>
                <a:latin typeface="Kanit"/>
                <a:ea typeface="Kanit"/>
                <a:cs typeface="Kanit"/>
              </a:rPr>
              <a:t>Critical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496312"/>
            <a:ext cx="1463040" cy="329184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487168"/>
            <a:ext cx="1463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3261E"/>
                </a:solidFill>
                <a:latin typeface="Kanit"/>
                <a:ea typeface="Kanit"/>
                <a:cs typeface="Kanit"/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331720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ระบบใช้งานไม่ได้ทั้งหมด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33172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3261E"/>
                </a:solidFill>
                <a:latin typeface="Kanit"/>
                <a:ea typeface="Kanit"/>
                <a:cs typeface="Kanit"/>
              </a:rPr>
              <a:t>แก้ไขเริ่มใน 15 นาที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971800"/>
            <a:ext cx="10607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91440" cy="640080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" y="3136392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131820"/>
            <a:ext cx="1463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5A00"/>
                </a:solidFill>
                <a:latin typeface="Kanit"/>
                <a:ea typeface="Kanit"/>
                <a:cs typeface="Kanit"/>
              </a:rPr>
              <a:t>High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3136392"/>
            <a:ext cx="1463040" cy="329184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127248"/>
            <a:ext cx="1463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A5A00"/>
                </a:solidFill>
                <a:latin typeface="Kanit"/>
                <a:ea typeface="Kanit"/>
                <a:cs typeface="Kanit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971800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ฟังก์ชันหลักใช้งานไม่ได้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97180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8A5A00"/>
                </a:solidFill>
                <a:latin typeface="Kanit"/>
                <a:ea typeface="Kanit"/>
                <a:cs typeface="Kanit"/>
              </a:rPr>
              <a:t>แก้ไขเริ่มใน 1 ชม.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611880"/>
            <a:ext cx="10607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611880"/>
            <a:ext cx="91440" cy="640080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5840" y="3776472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3771900"/>
            <a:ext cx="1463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Medium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3776472"/>
            <a:ext cx="1463040" cy="329184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134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767328"/>
            <a:ext cx="1463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3611880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ฟังก์ชันรองมีปัญหา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61188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3497A"/>
                </a:solidFill>
                <a:latin typeface="Kanit"/>
                <a:ea typeface="Kanit"/>
                <a:cs typeface="Kanit"/>
              </a:rPr>
              <a:t>แก้ไขใน 1 วันทำการ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251960"/>
            <a:ext cx="10607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251960"/>
            <a:ext cx="91440" cy="640080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5840" y="4416552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4411980"/>
            <a:ext cx="1463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7B34"/>
                </a:solidFill>
                <a:latin typeface="Kanit"/>
                <a:ea typeface="Kanit"/>
                <a:cs typeface="Kanit"/>
              </a:rPr>
              <a:t>Low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" y="4416552"/>
            <a:ext cx="1463040" cy="329184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407408"/>
            <a:ext cx="1463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7B34"/>
                </a:solidFill>
                <a:latin typeface="Kanit"/>
                <a:ea typeface="Kanit"/>
                <a:cs typeface="Kanit"/>
              </a:rPr>
              <a:t>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4251960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ปัญหาเล็กน้อย/ปรับปรุง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25196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E7B34"/>
                </a:solidFill>
                <a:latin typeface="Kanit"/>
                <a:ea typeface="Kanit"/>
                <a:cs typeface="Kanit"/>
              </a:rPr>
              <a:t>แก้ไขใน 3 วันทำการ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029200"/>
            <a:ext cx="10607040" cy="914400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5166360"/>
            <a:ext cx="10149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2410C"/>
                </a:solidFill>
                <a:latin typeface="Kanit"/>
                <a:ea typeface="Kanit"/>
                <a:cs typeface="Kanit"/>
              </a:rPr>
              <a:t>รับประกัน 1 ปี</a:t>
            </a:r>
            <a:r>
              <a:rPr sz="120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 — Monitoring 24/7 • อบรมผู้ดูแลระบบ • Penetration Test • ส่งมอบ Source Code + License + Admin Accounts ครบถ้วน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22615" y="6291072"/>
            <a:ext cx="3566160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22615" y="628650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ข้อ 8 • SLA 4 ระดับ + Warranty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การสาธิตสด — เว็บทำงานจริง (2 หน้า = 20 คะแนน)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10607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1188720" cy="1280160"/>
          </a:xfrm>
          <a:prstGeom prst="roundRect">
            <a:avLst>
              <a:gd name="adj" fmla="val 5000"/>
            </a:avLst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7360" y="1920240"/>
            <a:ext cx="228600" cy="1280160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118872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Ubuntu"/>
                <a:ea typeface="Ubuntu"/>
                <a:cs typeface="Ubuntu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148840"/>
            <a:ext cx="886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หน้าแรก + AI Smart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578608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สาธิต: ค้นหา “มาตรฐาน EA” → ผลลัพธ์ + คำตอบ AI + เปลี่ยน TH/EN + โหมดมืด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83280"/>
            <a:ext cx="10607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383280"/>
            <a:ext cx="1188720" cy="1280160"/>
          </a:xfrm>
          <a:prstGeom prst="roundRect">
            <a:avLst>
              <a:gd name="adj" fmla="val 5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37360" y="3383280"/>
            <a:ext cx="228600" cy="1280160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118872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Ubuntu"/>
                <a:ea typeface="Ubuntu"/>
                <a:cs typeface="Ubuntu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611880"/>
            <a:ext cx="886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หลังบ้าน WebX Console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4041648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สาธิต: ล็อกอิน (MFA) → ดู Analytics → แก้เนื้อหา WYSIWYG → ส่งออก Excel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29200"/>
            <a:ext cx="10607040" cy="960120"/>
          </a:xfrm>
          <a:prstGeom prst="roundRect">
            <a:avLst>
              <a:gd name="adj" fmla="val 6000"/>
            </a:avLst>
          </a:prstGeom>
          <a:solidFill>
            <a:srgbClr val="E5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138928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7B34"/>
                </a:solidFill>
                <a:latin typeface="Kanit"/>
                <a:ea typeface="Kanit"/>
                <a:cs typeface="Kanit"/>
              </a:rPr>
              <a:t>ทั้ง 2 หน้าเป็นต้นแบบที่ทำงานได้จริง</a:t>
            </a:r>
            <a:r>
              <a:rPr sz="12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 (ไม่ใช่ภาพนิ่ง) — รันบนเครื่องสาธิต พร้อมตอบคำถามกรรมการแบบ interactive ระหว่างนำเสนอ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73975" y="6291072"/>
            <a:ext cx="4114800" cy="310896"/>
          </a:xfrm>
          <a:prstGeom prst="roundRect">
            <a:avLst>
              <a:gd name="adj" fmla="val 5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3975" y="6286500"/>
            <a:ext cx="4114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E5020"/>
                </a:solidFill>
                <a:latin typeface="Kanit"/>
                <a:ea typeface="Kanit"/>
                <a:cs typeface="Kanit"/>
              </a:rPr>
              <a:t>◆ </a:t>
            </a:r>
            <a:r>
              <a:rPr sz="10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TOR 6.1 การสาธิต (20%) • 2 หน้าทำงานจริง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46304" cy="603504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WHY WE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4124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สรุปการทำคะแนนตามเกณฑ์ TOR ข้อ 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ผูกข้อเสนอกับทุกเกณฑ์ — เป้าหมาย 100 คะแนน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07040" cy="4572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หมวดเกณฑ์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4884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น้ำหนัก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14884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ข้อเสนอของเราที่ตอบเกณฑ์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2148840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เป้า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06040"/>
            <a:ext cx="10607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606040"/>
            <a:ext cx="91440" cy="749808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606040"/>
            <a:ext cx="3200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Design &amp; UX/UI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06040"/>
            <a:ext cx="1097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606040"/>
            <a:ext cx="4663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Design System+Figma • 3-Click+Sitemap • WCAG AA • Responsive • Mockup 3×5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606040"/>
            <a:ext cx="914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E7B34"/>
                </a:solidFill>
                <a:latin typeface="Ubuntu"/>
                <a:ea typeface="Ubuntu"/>
                <a:cs typeface="Ubuntu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355848"/>
            <a:ext cx="10607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55848"/>
            <a:ext cx="91440" cy="749808"/>
          </a:xfrm>
          <a:prstGeom prst="rect">
            <a:avLst/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355848"/>
            <a:ext cx="3200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การนำเสนอ/สาธิต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355848"/>
            <a:ext cx="1097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3497A"/>
                </a:solidFill>
                <a:latin typeface="Ubuntu"/>
                <a:ea typeface="Ubuntu"/>
                <a:cs typeface="Ubuntu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355848"/>
            <a:ext cx="4663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สาธิตสด 2 หน้าทำงานจริง (หน้าแรก+AI / หลังบ้าน Console)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3355848"/>
            <a:ext cx="914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E7B34"/>
                </a:solidFill>
                <a:latin typeface="Ubuntu"/>
                <a:ea typeface="Ubuntu"/>
                <a:cs typeface="Ubuntu"/>
              </a:rPr>
              <a:t>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105656"/>
            <a:ext cx="10607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105656"/>
            <a:ext cx="91440" cy="749808"/>
          </a:xfrm>
          <a:prstGeom prst="rect">
            <a:avLst/>
          </a:prstGeom>
          <a:solidFill>
            <a:srgbClr val="5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105656"/>
            <a:ext cx="3200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ราคา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105656"/>
            <a:ext cx="1097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5B5F66"/>
                </a:solidFill>
                <a:latin typeface="Ubuntu"/>
                <a:ea typeface="Ubuntu"/>
                <a:cs typeface="Ubuntu"/>
              </a:rPr>
              <a:t>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105656"/>
            <a:ext cx="4663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Price Performance — สถาปัตยกรรม static ลดต้นทุน hosting/ดูแล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4105656"/>
            <a:ext cx="914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5B5F66"/>
                </a:solidFill>
                <a:latin typeface="Ubuntu"/>
                <a:ea typeface="Ubuntu"/>
                <a:cs typeface="Ubuntu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855464"/>
            <a:ext cx="10607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855464"/>
            <a:ext cx="91440" cy="749808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855464"/>
            <a:ext cx="3200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8181B"/>
                </a:solidFill>
                <a:latin typeface="Kanit"/>
                <a:ea typeface="Kanit"/>
                <a:cs typeface="Kanit"/>
              </a:rPr>
              <a:t>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855464"/>
            <a:ext cx="1097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E7B34"/>
                </a:solidFill>
                <a:latin typeface="Ubuntu"/>
                <a:ea typeface="Ubuntu"/>
                <a:cs typeface="Ubuntu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855464"/>
            <a:ext cx="4663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8181B"/>
                </a:solidFill>
                <a:latin typeface="Kanit"/>
                <a:ea typeface="Kanit"/>
                <a:cs typeface="Kanit"/>
              </a:rPr>
              <a:t>MFA + Session timeout + DR Site (RTO/RPO) ครบ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4855464"/>
            <a:ext cx="914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E7B34"/>
                </a:solidFill>
                <a:latin typeface="Ubuntu"/>
                <a:ea typeface="Ubuntu"/>
                <a:cs typeface="Ubuntu"/>
              </a:rPr>
              <a:t>10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605272"/>
            <a:ext cx="10607040" cy="548640"/>
          </a:xfrm>
          <a:prstGeom prst="roundRect">
            <a:avLst>
              <a:gd name="adj" fmla="val 10000"/>
            </a:avLst>
          </a:prstGeom>
          <a:solidFill>
            <a:srgbClr val="134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605272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รวมคะแนนเทคนิคที่ควบคุมได้ (ไม่รวมราคาเชิงแข่งขัน)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5605272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EE5020"/>
                </a:solidFill>
                <a:latin typeface="Ubuntu"/>
                <a:ea typeface="Ubuntu"/>
                <a:cs typeface="Ubuntu"/>
              </a:rPr>
              <a:t>80 / 80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11535" y="6309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5F66"/>
                </a:solidFill>
                <a:latin typeface="Kanit"/>
                <a:ea typeface="Kanit"/>
                <a:cs typeface="Kanit"/>
              </a:rPr>
              <a:t>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Avalant × DGA  •  TOR DGA-69-0177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ขอบคุณครับ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566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9CAD0"/>
                </a:solidFill>
                <a:latin typeface="Kanit"/>
                <a:ea typeface="Kanit"/>
                <a:cs typeface="Kanit"/>
              </a:rPr>
              <a:t>พร้อมสาธิตระบบที่ทำงานจริง และตอบทุกคำถามของคณะกรรมการ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97680"/>
            <a:ext cx="2743200" cy="18288"/>
          </a:xfrm>
          <a:prstGeom prst="rect">
            <a:avLst/>
          </a:prstGeom>
          <a:solidFill>
            <a:srgbClr val="EE5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บริษัท อวาแลนท์ จำกัด (Avalant)  •  Everyday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5F66"/>
                </a:solidFill>
                <a:latin typeface="Ubuntu"/>
                <a:ea typeface="Ubuntu"/>
                <a:cs typeface="Ubuntu"/>
              </a:rPr>
              <a:t>โครงการออกแบบและพัฒนาระบบเว็บไซต์ สพร. (dga.or.th)  •  TOR DGA-69-0177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